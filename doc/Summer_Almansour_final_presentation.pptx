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00" cy="2194560"/>
          </a:xfrm>
          <a:prstGeom prst="rect">
            <a:avLst/>
          </a:prstGeom>
          <a:solidFill>
            <a:srgbClr val="7B3FA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U.S. County-Level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Outcomes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of Lifestyle, Environment, and Access to Care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Almansour  |  DSCI 510 – Spring 2026  |  USC Viterbi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74C8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some counties have far worse health outcomes than others?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Premature death rates vary by 4x across U.S. counties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factors like inactivity and smoking are modifiable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care and insurance coverage differ dramatically by region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these patterns can inform public health policy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114800" cy="3474720"/>
          </a:xfrm>
          <a:prstGeom prst="rect">
            <a:avLst/>
          </a:prstGeom>
          <a:solidFill>
            <a:srgbClr val="3D1A6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280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00600" y="173736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behavioral and environmental factors most strongly correlate with premature death rates?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counties cluster into distinct health risk profiles?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states have the best and worst health outcomes?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F4EEF9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68172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2,843 U.S. counties  |  Source: County Health Rankings 2025 (countyhealthrankings.org)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datasets merged on county FIPS codes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3291840"/>
        </p:xfrm>
        <a:graphic>
          <a:graphicData uri="http://schemas.openxmlformats.org/drawingml/2006/table">
            <a:tbl>
              <a:tblPr/>
              <a:tblGrid>
                <a:gridCol w="365760"/>
                <a:gridCol w="1920240"/>
                <a:gridCol w="1920240"/>
                <a:gridCol w="2926080"/>
                <a:gridCol w="128016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A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B3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County Health Rankings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countyhealthrankings.org / CSV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Premature death, diabetes, physical inactivity, uninsured rate, obesity, smoking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~3,200 counties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B3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CDC PLACES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data.cdc.gov / API (JSON)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Chronic disease measures by county — obesity, smoking, checkup rates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500+ measures, 3,100+ counties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B3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EPA Air Quality Annual Summary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aqs.epa.gov / CSV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AQI, days good/unhealthy, max AQI per county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~1,000+ counties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F4EEF9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54456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datasets joined on 5-digit county FIPS codes. Final analysis dataset: 2,843 counties after removing missing values.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Correlation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factors most strongly predict premature death rates?</a:t>
            </a:r>
            <a:endParaRPr lang="en-US" sz="1200" dirty="0"/>
          </a:p>
        </p:txBody>
      </p:sp>
      <p:pic>
        <p:nvPicPr>
          <p:cNvPr id="5" name="Image 0" descr="/home/claude/chart1_corr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530352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60720" y="1097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Premature Death Rate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60720" y="1691640"/>
            <a:ext cx="3017520" cy="502920"/>
          </a:xfrm>
          <a:prstGeom prst="rect">
            <a:avLst/>
          </a:prstGeom>
          <a:solidFill>
            <a:srgbClr val="3D1A6E"/>
          </a:solidFill>
          <a:ln/>
        </p:spPr>
      </p:sp>
      <p:sp>
        <p:nvSpPr>
          <p:cNvPr id="8" name="Text 5"/>
          <p:cNvSpPr/>
          <p:nvPr/>
        </p:nvSpPr>
        <p:spPr>
          <a:xfrm>
            <a:off x="5852160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Inactivity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17373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0.42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760720" y="2276856"/>
            <a:ext cx="3017520" cy="502920"/>
          </a:xfrm>
          <a:prstGeom prst="rect">
            <a:avLst/>
          </a:prstGeom>
          <a:solidFill>
            <a:srgbClr val="7B3FA8"/>
          </a:solidFill>
          <a:ln/>
        </p:spPr>
      </p:sp>
      <p:sp>
        <p:nvSpPr>
          <p:cNvPr id="11" name="Text 8"/>
          <p:cNvSpPr/>
          <p:nvPr/>
        </p:nvSpPr>
        <p:spPr>
          <a:xfrm>
            <a:off x="5852160" y="232257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Prevalence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589520" y="2322576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0.40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760720" y="2862072"/>
            <a:ext cx="3017520" cy="5029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4" name="Text 11"/>
          <p:cNvSpPr/>
          <p:nvPr/>
        </p:nvSpPr>
        <p:spPr>
          <a:xfrm>
            <a:off x="5852160" y="290779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Obesity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589520" y="29077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0.35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760720" y="3447288"/>
            <a:ext cx="3017520" cy="502920"/>
          </a:xfrm>
          <a:prstGeom prst="rect">
            <a:avLst/>
          </a:prstGeom>
          <a:solidFill>
            <a:srgbClr val="B266CC"/>
          </a:solidFill>
          <a:ln/>
        </p:spPr>
      </p:sp>
      <p:sp>
        <p:nvSpPr>
          <p:cNvPr id="17" name="Text 14"/>
          <p:cNvSpPr/>
          <p:nvPr/>
        </p:nvSpPr>
        <p:spPr>
          <a:xfrm>
            <a:off x="5852160" y="34930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Smoking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589520" y="349300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0.35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760720" y="4032504"/>
            <a:ext cx="3017520" cy="502920"/>
          </a:xfrm>
          <a:prstGeom prst="rect">
            <a:avLst/>
          </a:prstGeom>
          <a:solidFill>
            <a:srgbClr val="E74C8B"/>
          </a:solidFill>
          <a:ln/>
        </p:spPr>
      </p:sp>
      <p:sp>
        <p:nvSpPr>
          <p:cNvPr id="20" name="Text 17"/>
          <p:cNvSpPr/>
          <p:nvPr/>
        </p:nvSpPr>
        <p:spPr>
          <a:xfrm>
            <a:off x="5852160" y="407822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Uninsured Rate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589520" y="407822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0.29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760720" y="4663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correlations statistically significant (p &lt; 0.001)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State-Level Patterns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Healthiest vs. least healthy states by average premature death rate</a:t>
            </a:r>
            <a:endParaRPr lang="en-US" sz="1200" dirty="0"/>
          </a:p>
        </p:txBody>
      </p:sp>
      <p:pic>
        <p:nvPicPr>
          <p:cNvPr id="5" name="Image 0" descr="/home/claude/chart2_st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51560"/>
            <a:ext cx="859536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754880"/>
            <a:ext cx="4023360" cy="320040"/>
          </a:xfrm>
          <a:prstGeom prst="rect">
            <a:avLst/>
          </a:prstGeom>
          <a:solidFill>
            <a:srgbClr val="E8F8F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7731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Healthiest: ID, HI, CO, WA, UT — lower inactivity, higher access to care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4754880"/>
            <a:ext cx="4023360" cy="32004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47731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healthy: WV, LA, AL, MS, GA — higher poverty, inactivity, uninsured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Key Predictors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inactivity and uninsured rates as predictors of premature death</a:t>
            </a:r>
            <a:endParaRPr lang="en-US" sz="1200" dirty="0"/>
          </a:p>
        </p:txBody>
      </p:sp>
      <p:pic>
        <p:nvPicPr>
          <p:cNvPr id="5" name="Image 0" descr="/home/claude/chart3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51560"/>
            <a:ext cx="85953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6634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inactivity (r=0.42):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Counties where more residents are physically inactive show consistently higher premature death rates.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663440" y="46634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Uninsured rate (r=0.29):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uninsured rates correlate with worse outcomes, reflecting reduced access to preventive care.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K-Means Clustering (k=3)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Counties group into distinct health risk profiles</a:t>
            </a:r>
            <a:endParaRPr lang="en-US" sz="1200" dirty="0"/>
          </a:p>
        </p:txBody>
      </p:sp>
      <p:pic>
        <p:nvPicPr>
          <p:cNvPr id="5" name="Image 0" descr="/home/claude/chart4_clus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51560"/>
            <a:ext cx="566928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26480" y="118872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126480" y="1188720"/>
            <a:ext cx="137160" cy="10972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5"/>
          <p:cNvSpPr/>
          <p:nvPr/>
        </p:nvSpPr>
        <p:spPr>
          <a:xfrm>
            <a:off x="6355080" y="1234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55080" y="1508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 counties  |  Avg death rate: 2,327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355080" y="17556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inactivity, lower smoking, better access to care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26480" y="242316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26480" y="2423160"/>
            <a:ext cx="137160" cy="10972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2468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355080" y="27432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1,344 counties  |  Avg death rate: 2,823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55080" y="299008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across all risk factors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26480" y="36576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3657600"/>
            <a:ext cx="137160" cy="10972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5"/>
          <p:cNvSpPr/>
          <p:nvPr/>
        </p:nvSpPr>
        <p:spPr>
          <a:xfrm>
            <a:off x="6355080" y="3703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55080" y="39776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859 counties  |  Avg death rate: 3,468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55080" y="42245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inactivity, obesity, smoking, uninsured rates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Difficulties encountered during the project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4023360" cy="73152"/>
          </a:xfrm>
          <a:prstGeom prst="rect">
            <a:avLst/>
          </a:prstGeom>
          <a:solidFill>
            <a:srgbClr val="3D1A6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527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Code Formatting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dataset used different county identifier formats — integers vs. zero-padded 5-character strings. Required standardization before merging.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43000"/>
            <a:ext cx="4023360" cy="73152"/>
          </a:xfrm>
          <a:prstGeom prst="rect">
            <a:avLst/>
          </a:prstGeom>
          <a:solidFill>
            <a:srgbClr val="7B3FA8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2527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AQI Coverage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air quality data only covers counties with active monitoring stations (~1,000 of 3,100+), leaving most counties without AQI values. Treated as optional feature.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26080"/>
            <a:ext cx="4023360" cy="73152"/>
          </a:xfrm>
          <a:prstGeom prst="rect">
            <a:avLst/>
          </a:prstGeom>
          <a:solidFill>
            <a:srgbClr val="E74C8B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0358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API Access Restrictions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3832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CDC PLACES API required pagination and rate-limiting logic to retrieve all county-level records in JSON format without errors.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926080"/>
            <a:ext cx="4023360" cy="73152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0358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Handling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3832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smaller/rural counties lacked values for several measures. Chose to drop rows with missing key variables rather than impute, reducing dataset from 3,152 to 2,843 counties.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County Health Outcomes Analysis</dc:title>
  <dc:subject>PptxGenJS Presentation</dc:subject>
  <dc:creator>PptxGenJS</dc:creator>
  <cp:lastModifiedBy>PptxGenJS</cp:lastModifiedBy>
  <cp:revision>1</cp:revision>
  <dcterms:created xsi:type="dcterms:W3CDTF">2026-04-22T19:05:41Z</dcterms:created>
  <dcterms:modified xsi:type="dcterms:W3CDTF">2026-04-22T19:05:41Z</dcterms:modified>
</cp:coreProperties>
</file>